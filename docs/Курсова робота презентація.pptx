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2.jpeg" ContentType="image/jpe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k-U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0C5522-ABA8-40B8-AA72-E23493A756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A18741-E47D-4BDD-8034-AC6AB959CF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9CE51C-200C-4295-A9B8-4659C0F895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uk-U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CD8E58-B781-4FCF-B365-E3E085B4F4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A422639-B7C2-49A2-ADFF-54F263528C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uk-U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uk-U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66C1ED9-7A69-4EA0-B7EE-429275E902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D7DF0E5-12EB-4EC1-A829-148644B187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4539902-98E0-410F-9192-B65ECC3D55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25E3276-FEEA-4085-902F-78675AF160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FC35989-F9C5-4254-AEA7-077D16661F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213E40B-C655-498E-98BF-79C71728CD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" name="Group 6"/>
          <p:cNvGrpSpPr/>
          <p:nvPr/>
        </p:nvGrpSpPr>
        <p:grpSpPr>
          <a:xfrm>
            <a:off x="752040" y="743760"/>
            <a:ext cx="10674000" cy="5349600"/>
            <a:chOff x="752040" y="743760"/>
            <a:chExt cx="10674000" cy="5349600"/>
          </a:xfrm>
        </p:grpSpPr>
        <p:sp>
          <p:nvSpPr>
            <p:cNvPr id="2" name="Freeform 6"/>
            <p:cNvSpPr/>
            <p:nvPr/>
          </p:nvSpPr>
          <p:spPr>
            <a:xfrm>
              <a:off x="8151840" y="1685520"/>
              <a:ext cx="3274200" cy="4407840"/>
            </a:xfrm>
            <a:custGeom>
              <a:avLst/>
              <a:gdLst>
                <a:gd name="textAreaLeft" fmla="*/ 0 w 3274200"/>
                <a:gd name="textAreaRight" fmla="*/ 3274920 w 3274200"/>
                <a:gd name="textAreaTop" fmla="*/ 0 h 4407840"/>
                <a:gd name="textAreaBottom" fmla="*/ 4408560 h 440784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Freeform 6"/>
            <p:cNvSpPr/>
            <p:nvPr/>
          </p:nvSpPr>
          <p:spPr>
            <a:xfrm flipH="1" flipV="1">
              <a:off x="751320" y="743760"/>
              <a:ext cx="3274920" cy="4407840"/>
            </a:xfrm>
            <a:custGeom>
              <a:avLst/>
              <a:gdLst>
                <a:gd name="textAreaLeft" fmla="*/ 360 w 3274920"/>
                <a:gd name="textAreaRight" fmla="*/ 3276000 w 3274920"/>
                <a:gd name="textAreaTop" fmla="*/ -360 h 4407840"/>
                <a:gd name="textAreaBottom" fmla="*/ 4408200 h 4407840"/>
              </a:gdLst>
              <a:ahLst/>
              <a:rect l="textAreaLeft" t="textAreaTop" r="textAreaRight" b="textAreaBottom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правки тексту заголовка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258408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5EE8F5-497D-48D1-B515-7AF089DB4C7C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18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752760" y="6453360"/>
            <a:ext cx="16074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3200" spc="-1" strike="noStrike">
                <a:solidFill>
                  <a:srgbClr val="000000"/>
                </a:solidFill>
                <a:latin typeface="Arial"/>
              </a:rPr>
              <a:t>Для редагування структури клацніть мишею</a:t>
            </a:r>
            <a:endParaRPr b="0" lang="uk-UA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800" spc="-1" strike="noStrike">
                <a:solidFill>
                  <a:srgbClr val="000000"/>
                </a:solidFill>
                <a:latin typeface="Arial"/>
              </a:rPr>
              <a:t>Другий рівень структури</a:t>
            </a:r>
            <a:endParaRPr b="0" lang="uk-UA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400" spc="-1" strike="noStrike">
                <a:solidFill>
                  <a:srgbClr val="000000"/>
                </a:solidFill>
                <a:latin typeface="Arial"/>
              </a:rPr>
              <a:t>Третій рівень структури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Четвертий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П'ятий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Шостий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Сьомий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ftr" idx="4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56E04E-64D3-4186-B109-73DE5C9BE730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6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A04298-1EA7-4AB9-AEAD-DA85E97E4C4E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правки тексту заголовка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редагування структури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Другий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Третій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Четвертий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П'ятий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Шостий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Сьомий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0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1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64605A-95C0-44D1-AB84-C3F2ABF1BAFD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2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Freeform 6"/>
          <p:cNvSpPr/>
          <p:nvPr/>
        </p:nvSpPr>
        <p:spPr>
          <a:xfrm>
            <a:off x="8151840" y="1685520"/>
            <a:ext cx="3274200" cy="4407840"/>
          </a:xfrm>
          <a:custGeom>
            <a:avLst/>
            <a:gdLst>
              <a:gd name="textAreaLeft" fmla="*/ 0 w 3274200"/>
              <a:gd name="textAreaRight" fmla="*/ 3274920 w 3274200"/>
              <a:gd name="textAreaTop" fmla="*/ 0 h 4407840"/>
              <a:gd name="textAreaBottom" fmla="*/ 4408560 h 4407840"/>
            </a:gdLst>
            <a:ahLst/>
            <a:rect l="textAreaLeft" t="textAreaTop" r="textAreaRight" b="textAreaBottom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2584440" y="6453360"/>
            <a:ext cx="7022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ffffff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983052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217E48-8A7F-4435-8346-D6D2939ED955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739080" y="6453360"/>
            <a:ext cx="16218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ffffff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правки тексту заголовка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редагування структури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Другий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Третій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Четвертий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П'ятий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Шостий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Сьомий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редагування структури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Другий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Третій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Четвертий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П'ятий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Шостий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Сьомий рівень структури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6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7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1BE6F3-A4B4-4C52-8F76-BB4ABEDFFA50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8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ftr" idx="19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0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A7B389-215D-4ADE-A9EC-64DDB280FBA2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1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uk-UA" sz="1800" spc="-1" strike="noStrike">
                <a:solidFill>
                  <a:srgbClr val="000000"/>
                </a:solidFill>
                <a:latin typeface="Arial"/>
              </a:rPr>
              <a:t>Для правки тексту заголовка клацніть мишею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2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3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B43CA0-E027-4469-94FA-57BED11B932C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4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3200" spc="-1" strike="noStrike">
                <a:solidFill>
                  <a:srgbClr val="000000"/>
                </a:solidFill>
                <a:latin typeface="Arial"/>
              </a:rPr>
              <a:t>Для редагування структури клацніть мишею</a:t>
            </a:r>
            <a:endParaRPr b="0" lang="uk-UA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800" spc="-1" strike="noStrike">
                <a:solidFill>
                  <a:srgbClr val="000000"/>
                </a:solidFill>
                <a:latin typeface="Arial"/>
              </a:rPr>
              <a:t>Другий рівень структури</a:t>
            </a:r>
            <a:endParaRPr b="0" lang="uk-UA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400" spc="-1" strike="noStrike">
                <a:solidFill>
                  <a:srgbClr val="000000"/>
                </a:solidFill>
                <a:latin typeface="Arial"/>
              </a:rPr>
              <a:t>Третій рівень структури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Четвертий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П'ятий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Шостий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pc="-1" strike="noStrike">
                <a:solidFill>
                  <a:srgbClr val="000000"/>
                </a:solidFill>
                <a:latin typeface="Arial"/>
              </a:rPr>
              <a:t>Сьомий рівень структури</a:t>
            </a: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8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ftr" idx="25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26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296BEE-08B8-45A4-A752-461103D2C1C6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7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 7"/>
          <p:cNvSpPr/>
          <p:nvPr/>
        </p:nvSpPr>
        <p:spPr>
          <a:xfrm>
            <a:off x="0" y="360"/>
            <a:ext cx="5302800" cy="685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ectangle 8"/>
          <p:cNvSpPr/>
          <p:nvPr/>
        </p:nvSpPr>
        <p:spPr>
          <a:xfrm>
            <a:off x="530352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ftr" idx="28"/>
          </p:nvPr>
        </p:nvSpPr>
        <p:spPr>
          <a:xfrm>
            <a:off x="2206080" y="6453360"/>
            <a:ext cx="23731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29"/>
          </p:nvPr>
        </p:nvSpPr>
        <p:spPr>
          <a:xfrm>
            <a:off x="98830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6DF248-DBCE-4DEA-AE62-A94AE8E3E15F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0"/>
          </p:nvPr>
        </p:nvSpPr>
        <p:spPr>
          <a:xfrm>
            <a:off x="72396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8" hidden="1"/>
          <p:cNvSpPr/>
          <p:nvPr/>
        </p:nvSpPr>
        <p:spPr>
          <a:xfrm>
            <a:off x="47808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 7"/>
          <p:cNvSpPr/>
          <p:nvPr/>
        </p:nvSpPr>
        <p:spPr>
          <a:xfrm>
            <a:off x="0" y="360"/>
            <a:ext cx="5302800" cy="685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5303520" y="360"/>
            <a:ext cx="22788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uk-U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ftr" idx="31"/>
          </p:nvPr>
        </p:nvSpPr>
        <p:spPr>
          <a:xfrm>
            <a:off x="2206080" y="6453360"/>
            <a:ext cx="23731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&lt;нижній колонтитул&gt;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2"/>
          </p:nvPr>
        </p:nvSpPr>
        <p:spPr>
          <a:xfrm>
            <a:off x="98830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0E4A13-B53F-4A99-835E-9531FA95A95C}" type="slidenum"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&lt;номер&gt;</a:t>
            </a:fld>
            <a:endParaRPr b="0" lang="uk-U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3"/>
          </p:nvPr>
        </p:nvSpPr>
        <p:spPr>
          <a:xfrm>
            <a:off x="72396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uk-U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pc="-1" strike="noStrike">
                <a:solidFill>
                  <a:srgbClr val="000000"/>
                </a:solidFill>
                <a:latin typeface="Times New Roman"/>
              </a:rPr>
              <a:t>&lt;дата/час&gt;</a:t>
            </a:r>
            <a:endParaRPr b="0" lang="uk-U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72120" y="1936080"/>
            <a:ext cx="9267840" cy="292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ru-RU" sz="4400" spc="-1" strike="noStrike" cap="all">
                <a:solidFill>
                  <a:schemeClr val="dk2"/>
                </a:solidFill>
                <a:latin typeface="Franklin Gothic Book"/>
              </a:rPr>
              <a:t>Аналіз зв'язку різних факторів та рівня захворювання туберкульозом для розв'язання задачі класифікації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572120" y="4739040"/>
            <a:ext cx="6831000" cy="9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Виконав</a:t>
            </a: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: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 Піковський Володимир ІП-33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02.06.2025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371600" y="527400"/>
            <a:ext cx="9600480" cy="94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Постановка завдання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371600" y="1477080"/>
            <a:ext cx="9600480" cy="504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uk-UA" sz="2000" spc="-1" strike="noStrike">
                <a:solidFill>
                  <a:schemeClr val="dk2"/>
                </a:solidFill>
                <a:latin typeface="Franklin Gothic Book"/>
              </a:rPr>
              <a:t>	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Провести роботу з даними, розробити механізми їх обробки та завантаження в сховище, спроектувати саме сховище даних.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	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Проаналізувати дані, обрати методи для вирішення задачі. Здійснити тренування моделей, порівняти методи між собою та обрати найоптимальніший.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837440" y="404280"/>
            <a:ext cx="9600480" cy="94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Предметна область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Объект 4" descr=""/>
          <p:cNvPicPr/>
          <p:nvPr/>
        </p:nvPicPr>
        <p:blipFill>
          <a:blip r:embed="rId1"/>
          <a:stretch/>
        </p:blipFill>
        <p:spPr>
          <a:xfrm>
            <a:off x="6822720" y="1477080"/>
            <a:ext cx="5020200" cy="4453560"/>
          </a:xfrm>
          <a:prstGeom prst="rect">
            <a:avLst/>
          </a:prstGeom>
          <a:ln w="0">
            <a:noFill/>
          </a:ln>
        </p:spPr>
      </p:pic>
      <p:sp>
        <p:nvSpPr>
          <p:cNvPr id="75" name="TextBox 5"/>
          <p:cNvSpPr/>
          <p:nvPr/>
        </p:nvSpPr>
        <p:spPr>
          <a:xfrm>
            <a:off x="7658280" y="3420360"/>
            <a:ext cx="2566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uk-UA" sz="1800" spc="-1" strike="noStrike">
                <a:solidFill>
                  <a:srgbClr val="ff0000"/>
                </a:solidFill>
                <a:latin typeface="Franklin Gothic Book"/>
              </a:rPr>
              <a:t>____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Рисунок 6" descr=""/>
          <p:cNvPicPr/>
          <p:nvPr/>
        </p:nvPicPr>
        <p:blipFill>
          <a:blip r:embed="rId2"/>
          <a:stretch/>
        </p:blipFill>
        <p:spPr>
          <a:xfrm>
            <a:off x="839880" y="1556280"/>
            <a:ext cx="5727240" cy="429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371600" y="527400"/>
            <a:ext cx="9600480" cy="94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Робота з вхідними даними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371600" y="1477080"/>
            <a:ext cx="9600480" cy="504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Було зведено дані до одного типу, а саме: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87480" indent="-45720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Зведено назви колонок всіх файлів до одного формату(нижнього регістру)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87480" indent="-45720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Зведено роки для файлів, де є цей вимір(обрано проміжок 2000-2012)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87480" indent="-45720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Узгоджено набір країн, для відповідності даних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Було очищено дані, а саме: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87480" indent="-45720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Видалено непотрібні для аналізу колонки з файлів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87480" indent="-45720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Видалено дані щодо статі з даних по курінню(адже більше в жодному з датасетів немає виміру статі)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Було добавлено дві нові колонки – відсоток хворих на туберкульоз та відсоток хворих на віл серед туберкульозників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530280" indent="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530280" indent="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530280" indent="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uk-U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371600" y="527400"/>
            <a:ext cx="10251000" cy="94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20000"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Проектування </a:t>
            </a: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Stage </a:t>
            </a: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зони та сховища даних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Рисунок 4" descr=""/>
          <p:cNvPicPr/>
          <p:nvPr/>
        </p:nvPicPr>
        <p:blipFill>
          <a:blip r:embed="rId1"/>
          <a:srcRect l="0" t="0" r="0" b="21345"/>
          <a:stretch/>
        </p:blipFill>
        <p:spPr>
          <a:xfrm>
            <a:off x="1101960" y="1578240"/>
            <a:ext cx="4928760" cy="4579920"/>
          </a:xfrm>
          <a:prstGeom prst="rect">
            <a:avLst/>
          </a:prstGeom>
          <a:ln w="0">
            <a:noFill/>
          </a:ln>
        </p:spPr>
      </p:pic>
      <p:pic>
        <p:nvPicPr>
          <p:cNvPr id="81" name="Рисунок 5" descr=""/>
          <p:cNvPicPr/>
          <p:nvPr/>
        </p:nvPicPr>
        <p:blipFill>
          <a:blip r:embed="rId2"/>
          <a:stretch/>
        </p:blipFill>
        <p:spPr>
          <a:xfrm>
            <a:off x="6492960" y="1524240"/>
            <a:ext cx="5090040" cy="520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30000" y="272520"/>
            <a:ext cx="9600480" cy="9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Таблиця фактів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Рисунок 5" descr=""/>
          <p:cNvPicPr/>
          <p:nvPr/>
        </p:nvPicPr>
        <p:blipFill>
          <a:blip r:embed="rId1"/>
          <a:stretch/>
        </p:blipFill>
        <p:spPr>
          <a:xfrm>
            <a:off x="1245600" y="1266120"/>
            <a:ext cx="10168920" cy="50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30000" y="272520"/>
            <a:ext cx="9600480" cy="9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Визначення категорій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Объект 2"/>
          <p:cNvSpPr/>
          <p:nvPr/>
        </p:nvSpPr>
        <p:spPr>
          <a:xfrm>
            <a:off x="7294680" y="2764080"/>
            <a:ext cx="4896720" cy="3580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Franklin Gothic Book"/>
              </a:rPr>
              <a:t> </a:t>
            </a:r>
            <a:endParaRPr b="0" lang="uk-UA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Рисунок 5" descr=""/>
          <p:cNvPicPr/>
          <p:nvPr/>
        </p:nvPicPr>
        <p:blipFill>
          <a:blip r:embed="rId2"/>
          <a:stretch/>
        </p:blipFill>
        <p:spPr>
          <a:xfrm>
            <a:off x="799920" y="1629000"/>
            <a:ext cx="6365160" cy="399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30000" y="27252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Перевірка кореляцій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Рисунок 3" descr=""/>
          <p:cNvPicPr/>
          <p:nvPr/>
        </p:nvPicPr>
        <p:blipFill>
          <a:blip r:embed="rId1"/>
          <a:stretch/>
        </p:blipFill>
        <p:spPr>
          <a:xfrm>
            <a:off x="2833920" y="1230840"/>
            <a:ext cx="6992280" cy="539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30000" y="272520"/>
            <a:ext cx="9600480" cy="9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Обрані методи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Объект 2"/>
          <p:cNvSpPr/>
          <p:nvPr/>
        </p:nvSpPr>
        <p:spPr>
          <a:xfrm>
            <a:off x="1025640" y="1295640"/>
            <a:ext cx="10535400" cy="52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Gradient Boosting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: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Надзвичайно точний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Тривале навчання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Random Forest: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Гарно працює з великими даними, зазвичай стійкий до перенавчання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Може потребувати багато часу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Extra Trees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: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Не схильний до перенавчання, стабільний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Інколи може бути неточним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AutoNum type="arabicPeriod"/>
            </a:pP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Decision Tree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Найшвидший з описаних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Через свою простоту є найменш точним серед інших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371600" y="43956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Підбір параметрів: </a:t>
            </a: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Gradient Boosting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Рисунок 7" descr=""/>
          <p:cNvPicPr/>
          <p:nvPr/>
        </p:nvPicPr>
        <p:blipFill>
          <a:blip r:embed="rId1"/>
          <a:stretch/>
        </p:blipFill>
        <p:spPr>
          <a:xfrm>
            <a:off x="1185120" y="1925640"/>
            <a:ext cx="5839200" cy="3422880"/>
          </a:xfrm>
          <a:prstGeom prst="rect">
            <a:avLst/>
          </a:prstGeom>
          <a:ln w="0">
            <a:noFill/>
          </a:ln>
        </p:spPr>
      </p:pic>
      <p:pic>
        <p:nvPicPr>
          <p:cNvPr id="93" name="Рисунок 8" descr=""/>
          <p:cNvPicPr/>
          <p:nvPr/>
        </p:nvPicPr>
        <p:blipFill>
          <a:blip r:embed="rId2"/>
          <a:stretch/>
        </p:blipFill>
        <p:spPr>
          <a:xfrm>
            <a:off x="7425360" y="1775880"/>
            <a:ext cx="4563720" cy="372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71600" y="43956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Підбір параметрів: </a:t>
            </a: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Random Forest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Рисунок 3" descr=""/>
          <p:cNvPicPr/>
          <p:nvPr/>
        </p:nvPicPr>
        <p:blipFill>
          <a:blip r:embed="rId1"/>
          <a:stretch/>
        </p:blipFill>
        <p:spPr>
          <a:xfrm>
            <a:off x="896040" y="1375920"/>
            <a:ext cx="5442480" cy="4320720"/>
          </a:xfrm>
          <a:prstGeom prst="rect">
            <a:avLst/>
          </a:prstGeom>
          <a:ln w="0">
            <a:noFill/>
          </a:ln>
        </p:spPr>
      </p:pic>
      <p:pic>
        <p:nvPicPr>
          <p:cNvPr id="96" name="Рисунок 4" descr=""/>
          <p:cNvPicPr/>
          <p:nvPr/>
        </p:nvPicPr>
        <p:blipFill>
          <a:blip r:embed="rId2"/>
          <a:stretch/>
        </p:blipFill>
        <p:spPr>
          <a:xfrm>
            <a:off x="6656400" y="1375920"/>
            <a:ext cx="5394240" cy="421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371600" y="43956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Підбір параметрів: </a:t>
            </a: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Extra Trees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Рисунок 5" descr=""/>
          <p:cNvPicPr/>
          <p:nvPr/>
        </p:nvPicPr>
        <p:blipFill>
          <a:blip r:embed="rId1"/>
          <a:stretch/>
        </p:blipFill>
        <p:spPr>
          <a:xfrm>
            <a:off x="912600" y="1375920"/>
            <a:ext cx="5441760" cy="4356000"/>
          </a:xfrm>
          <a:prstGeom prst="rect">
            <a:avLst/>
          </a:prstGeom>
          <a:ln w="0">
            <a:noFill/>
          </a:ln>
        </p:spPr>
      </p:pic>
      <p:pic>
        <p:nvPicPr>
          <p:cNvPr id="99" name="Рисунок 6" descr=""/>
          <p:cNvPicPr/>
          <p:nvPr/>
        </p:nvPicPr>
        <p:blipFill>
          <a:blip r:embed="rId2"/>
          <a:stretch/>
        </p:blipFill>
        <p:spPr>
          <a:xfrm>
            <a:off x="6743880" y="1375920"/>
            <a:ext cx="5227560" cy="409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371600" y="43956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Підбір параметрів: </a:t>
            </a: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Decision Tree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Рисунок 4" descr=""/>
          <p:cNvPicPr/>
          <p:nvPr/>
        </p:nvPicPr>
        <p:blipFill>
          <a:blip r:embed="rId1"/>
          <a:stretch/>
        </p:blipFill>
        <p:spPr>
          <a:xfrm>
            <a:off x="847080" y="1310400"/>
            <a:ext cx="5518080" cy="4359600"/>
          </a:xfrm>
          <a:prstGeom prst="rect">
            <a:avLst/>
          </a:prstGeom>
          <a:ln w="0">
            <a:noFill/>
          </a:ln>
        </p:spPr>
      </p:pic>
      <p:pic>
        <p:nvPicPr>
          <p:cNvPr id="102" name="Рисунок 7" descr=""/>
          <p:cNvPicPr/>
          <p:nvPr/>
        </p:nvPicPr>
        <p:blipFill>
          <a:blip r:embed="rId2"/>
          <a:stretch/>
        </p:blipFill>
        <p:spPr>
          <a:xfrm>
            <a:off x="6601320" y="1310400"/>
            <a:ext cx="5481360" cy="425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707120" y="158400"/>
            <a:ext cx="9600480" cy="97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 lnSpcReduction="10000"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Перевірка роботи методів та їх порівняння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Рисунок 10" descr=""/>
          <p:cNvPicPr/>
          <p:nvPr/>
        </p:nvPicPr>
        <p:blipFill>
          <a:blip r:embed="rId1"/>
          <a:stretch/>
        </p:blipFill>
        <p:spPr>
          <a:xfrm>
            <a:off x="3958920" y="1136520"/>
            <a:ext cx="5096160" cy="556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707120" y="158400"/>
            <a:ext cx="9600480" cy="97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 lnSpcReduction="10000"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Перевірка роботи методів та їх порівняння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Рисунок 3" descr=""/>
          <p:cNvPicPr/>
          <p:nvPr/>
        </p:nvPicPr>
        <p:blipFill>
          <a:blip r:embed="rId1"/>
          <a:stretch/>
        </p:blipFill>
        <p:spPr>
          <a:xfrm>
            <a:off x="1080000" y="1257120"/>
            <a:ext cx="5254200" cy="3602520"/>
          </a:xfrm>
          <a:prstGeom prst="rect">
            <a:avLst/>
          </a:prstGeom>
          <a:ln w="0">
            <a:noFill/>
          </a:ln>
        </p:spPr>
      </p:pic>
      <p:pic>
        <p:nvPicPr>
          <p:cNvPr id="107" name="Рисунок 4" descr=""/>
          <p:cNvPicPr/>
          <p:nvPr/>
        </p:nvPicPr>
        <p:blipFill>
          <a:blip r:embed="rId2"/>
          <a:stretch/>
        </p:blipFill>
        <p:spPr>
          <a:xfrm>
            <a:off x="6507720" y="2859120"/>
            <a:ext cx="5456520" cy="375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707120" y="158400"/>
            <a:ext cx="9600480" cy="97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 lnSpcReduction="10000"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Перевірка роботи методів та їх порівняння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Рисунок 5" descr=""/>
          <p:cNvPicPr/>
          <p:nvPr/>
        </p:nvPicPr>
        <p:blipFill>
          <a:blip r:embed="rId1"/>
          <a:stretch/>
        </p:blipFill>
        <p:spPr>
          <a:xfrm>
            <a:off x="855720" y="1222200"/>
            <a:ext cx="5502600" cy="3817440"/>
          </a:xfrm>
          <a:prstGeom prst="rect">
            <a:avLst/>
          </a:prstGeom>
          <a:ln w="0">
            <a:noFill/>
          </a:ln>
        </p:spPr>
      </p:pic>
      <p:pic>
        <p:nvPicPr>
          <p:cNvPr id="110" name="Рисунок 6" descr=""/>
          <p:cNvPicPr/>
          <p:nvPr/>
        </p:nvPicPr>
        <p:blipFill>
          <a:blip r:embed="rId2"/>
          <a:stretch/>
        </p:blipFill>
        <p:spPr>
          <a:xfrm>
            <a:off x="6490080" y="2672280"/>
            <a:ext cx="5508720" cy="378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30000" y="272520"/>
            <a:ext cx="9600480" cy="93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Висновки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Объект 2"/>
          <p:cNvSpPr/>
          <p:nvPr/>
        </p:nvSpPr>
        <p:spPr>
          <a:xfrm>
            <a:off x="1025640" y="1295640"/>
            <a:ext cx="10535400" cy="52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666" lnSpcReduction="10000"/>
          </a:bodyPr>
          <a:p>
            <a:pPr algn="just" defTabSz="9144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	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Найоптимальнішим методом для категоризації по рівню захворюваності на туберкульоз є </a:t>
            </a: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Gradient Boosting, 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адже хоч він і займає багато часу під час тренування моделі, проте на тестових даних показує найкращі результати по точності та одні з найкращих результатів по часу(після </a:t>
            </a: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Decision Trees, 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який проте показує нижчу точність). 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	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Якщо важливою є швидкість навчання моделі, </a:t>
            </a: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Decision Tree 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є найкращим вибором.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	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Методи же </a:t>
            </a: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Random Forest 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та </a:t>
            </a: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Extra Trees </a:t>
            </a:r>
            <a:r>
              <a:rPr b="0" lang="uk-UA" sz="2400" spc="-1" strike="noStrike">
                <a:solidFill>
                  <a:schemeClr val="dk2"/>
                </a:solidFill>
                <a:latin typeface="Franklin Gothic Book"/>
              </a:rPr>
              <a:t>є проміжними щодо точності та часу.</a:t>
            </a:r>
            <a:endParaRPr b="0" lang="uk-UA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802520" y="252324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9000"/>
              </a:lnSpc>
              <a:buNone/>
              <a:tabLst>
                <a:tab algn="l" pos="0"/>
              </a:tabLst>
            </a:pPr>
            <a:r>
              <a:rPr b="0" lang="uk-UA" sz="4400" spc="-1" strike="noStrike">
                <a:solidFill>
                  <a:schemeClr val="dk2"/>
                </a:solidFill>
                <a:latin typeface="Franklin Gothic Book"/>
              </a:rPr>
              <a:t>Дякую за увагу!</a:t>
            </a:r>
            <a:endParaRPr b="0" lang="uk-UA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push dir="u"/>
  </p:transition>
</p:sld>
</file>

<file path=ppt/theme/theme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1265</TotalTime>
  <Application>LibreOffice/24.2.7.2$Linux_X86_64 LibreOffice_project/420$Build-2</Application>
  <AppVersion>15.0000</AppVersion>
  <Words>235</Words>
  <Paragraphs>51</Paragraphs>
  <Company>NUBIP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2024-12-30T00:02:19Z</dcterms:created>
  <dc:creator>USER</dc:creator>
  <dc:description/>
  <dc:language>uk-UA</dc:language>
  <cp:lastModifiedBy/>
  <dcterms:modified xsi:type="dcterms:W3CDTF">2026-06-22T10:19:33Z</dcterms:modified>
  <cp:revision>44</cp:revision>
  <dc:subject/>
  <dc:title>БАЗА ДАНИХ ОСОБИСТОГО КАБІНЕТУ ОБЛІКУ ОПЛАТ ЗА ЖИТЛОВО-КОМУНАЛЬНІ ПОСЛУГИ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18</vt:i4>
  </property>
</Properties>
</file>